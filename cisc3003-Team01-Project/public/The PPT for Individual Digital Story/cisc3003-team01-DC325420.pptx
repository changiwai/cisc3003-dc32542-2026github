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 panose="02020500000000000000" charset="0"/>
      <p:regular r:id="rId14"/>
      <p:bold r:id="rId15"/>
      <p:italic r:id="rId16"/>
      <p:boldItalic r:id="rId17"/>
    </p:embeddedFont>
    <p:embeddedFont>
      <p:font typeface="Inter SemiBold" panose="02020500000000000000" charset="0"/>
      <p:regular r:id="rId18"/>
      <p:bold r:id="rId19"/>
      <p:italic r:id="rId20"/>
      <p:boldItalic r:id="rId21"/>
    </p:embeddedFont>
    <p:embeddedFont>
      <p:font typeface="Lato" panose="020F0502020204030204" pitchFamily="34" charset="0"/>
      <p:regular r:id="rId22"/>
      <p:bold r:id="rId23"/>
      <p:italic r:id="rId24"/>
      <p:boldItalic r:id="rId25"/>
    </p:embeddedFont>
    <p:embeddedFont>
      <p:font typeface="Urbanist" panose="02020500000000000000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340FC4-E288-4DB8-BF67-D66C935F06AC}">
  <a:tblStyle styleId="{6A340FC4-E288-4DB8-BF67-D66C935F06A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164E15C-C48D-4328-BB76-24430AC65CBF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/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4F81BD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F81BD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72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150" y="2505605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WEB CISC3003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38475" y="3901380"/>
            <a:ext cx="61150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Deep Dive into RWD &amp; Rate Limiting Strategies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167312" y="4709070"/>
            <a:ext cx="1857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CHANG I WAI, JOEY</a:t>
            </a:r>
            <a:endParaRPr sz="1500" b="0" i="0" u="none" strike="noStrike" cap="none">
              <a:solidFill>
                <a:srgbClr val="38BDF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DC325420</a:t>
            </a:r>
            <a:endParaRPr sz="1500">
              <a:solidFill>
                <a:srgbClr val="38BDF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95587"/>
            <a:ext cx="533400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95587"/>
            <a:ext cx="5334000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62025" y="3186112"/>
            <a:ext cx="478059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External: User-Centric RWD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3690937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Focusing on </a:t>
            </a: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Task Completion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across all devices (phones, tablets, and desktops) to ensure a seamless rental experience.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77025" y="3186112"/>
            <a:ext cx="478059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Internal: System Integrity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77025" y="3690937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Implementing </a:t>
            </a: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Rate Limiting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to safeguard the server from crashes, accidental double-clicks, and malicious bot traffic.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09625" y="571500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Stability and Usability: The Pillars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95275" y="1181100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Pillar I: Responsive Web Design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2105025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Moving beyond "resizing" to functional excellence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571500" y="199072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prioritized the core user journey to ensure 100% functionality on small screens: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1047750" y="279082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Secure &amp; Clear Authentication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1047750" y="333375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Real-time Vehicle Discovery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047750" y="387667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Seamless Rental Activation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047750" y="44196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Intuitive Order Management</a:t>
            </a:r>
            <a:endParaRPr/>
          </a:p>
        </p:txBody>
      </p:sp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289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7185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147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57700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809625" y="571500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Designing for Task Completion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88325" y="2418194"/>
            <a:ext cx="6943899" cy="3727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47912"/>
            <a:ext cx="349254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47912"/>
            <a:ext cx="349254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47912"/>
            <a:ext cx="3492549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784223" y="3395662"/>
            <a:ext cx="306710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Mobile-First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57250" y="3900487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Most important action buttons prioritized at the top for vertical thumb-scrolling efficiency.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4562523" y="3395662"/>
            <a:ext cx="306710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Fluid Grids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635549" y="3900487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Content reshuffles from side-by-side (Desktop) to top-to-bottom (Mobile) without losing context.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340822" y="3395662"/>
            <a:ext cx="306710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DRY Code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413849" y="3900487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Shared style sheets ensure visual consistency and easy future scalability across the codebase.</a:t>
            </a:r>
            <a:endParaRPr/>
          </a:p>
        </p:txBody>
      </p:sp>
      <p:pic>
        <p:nvPicPr>
          <p:cNvPr id="140" name="Google Shape;14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36725" y="2671762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29300" y="2671762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74262" y="2671762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809625" y="571500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Strategic Layout Management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/>
          <p:nvPr/>
        </p:nvSpPr>
        <p:spPr>
          <a:xfrm>
            <a:off x="5619750" y="857250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295275" y="1181100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Pillar II: Rate Limiting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2105025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invisible gatekeeper of system performance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809625" y="762000"/>
            <a:ext cx="4950618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Strategic Security Gate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571500" y="762000"/>
            <a:ext cx="57150" cy="11049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571500" y="22479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Rate limiting serves as our first line of defense, checking request frequency before they ever hit the core application logic.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1047750" y="3448050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Early Detection: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Identifies rapid-fire clicks instantly.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1047750" y="4295775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Throttling: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"Wait a moment" messaging for safety.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1047750" y="5143500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Resource Guard: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Keeps the server efficient.</a:t>
            </a:r>
            <a:endParaRPr/>
          </a:p>
        </p:txBody>
      </p:sp>
      <p:pic>
        <p:nvPicPr>
          <p:cNvPr id="165" name="Google Shape;16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861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338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18160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3" name="Google Shape;173;p20"/>
          <p:cNvGraphicFramePr/>
          <p:nvPr/>
        </p:nvGraphicFramePr>
        <p:xfrm>
          <a:off x="571500" y="2790825"/>
          <a:ext cx="11048975" cy="2400300"/>
        </p:xfrm>
        <a:graphic>
          <a:graphicData uri="http://schemas.openxmlformats.org/drawingml/2006/table">
            <a:tbl>
              <a:tblPr firstRow="1" bandRow="1">
                <a:noFill/>
                <a:tableStyleId>{6A340FC4-E288-4DB8-BF67-D66C935F06AC}</a:tableStyleId>
              </a:tblPr>
              <a:tblGrid>
                <a:gridCol w="232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Protected Action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Potential Risk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Mitigation Strategy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Login Requests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Brute Force / Credential Stuffing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Exponential back-off for failed attempts.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"Rent Now" Clicks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Accidental double-clicks / Race conditions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Request throttling per user session.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API Dashboard Load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Bot Scraping / Excessive Refreshing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Fixed-window rate limiting on API endpoints.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4" name="Google Shape;174;p20"/>
          <p:cNvSpPr/>
          <p:nvPr/>
        </p:nvSpPr>
        <p:spPr>
          <a:xfrm>
            <a:off x="571500" y="3995737"/>
            <a:ext cx="23260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2897534" y="3995737"/>
            <a:ext cx="42503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7147917" y="3995737"/>
            <a:ext cx="44725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71500" y="4586287"/>
            <a:ext cx="23260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2897534" y="4586287"/>
            <a:ext cx="42503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7147917" y="4586287"/>
            <a:ext cx="44725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71500" y="5176837"/>
            <a:ext cx="232603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2897534" y="5176837"/>
            <a:ext cx="42503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7147917" y="5176837"/>
            <a:ext cx="447258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809625" y="571500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Protecting Critical Infrastructure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571500" y="3090862"/>
            <a:ext cx="53340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99%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571500" y="4424362"/>
            <a:ext cx="5334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System Stability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6286500" y="2633662"/>
            <a:ext cx="56007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Total Quality Management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6286500" y="3138487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RWD clarifies the interface, reducing user error and "panic clicks." Rate limiting catches the remaining edge cases.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6286500" y="4243387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Result: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 "Super Strong" application that handles high traffic gracefully while remaining effortless for the end user.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809625" y="571500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Synergy: User &amp; Server Harmony</a:t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809625" y="571500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Technical Project Repository</a:t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4" name="Google Shape;204;p22"/>
          <p:cNvGraphicFramePr/>
          <p:nvPr/>
        </p:nvGraphicFramePr>
        <p:xfrm>
          <a:off x="571500" y="2427050"/>
          <a:ext cx="11049000" cy="2295500"/>
        </p:xfrm>
        <a:graphic>
          <a:graphicData uri="http://schemas.openxmlformats.org/drawingml/2006/table">
            <a:tbl>
              <a:tblPr firstRow="1" bandRow="1">
                <a:noFill/>
                <a:tableStyleId>{4164E15C-C48D-4328-BB76-24430AC65CBF}</a:tableStyleId>
              </a:tblPr>
              <a:tblGrid>
                <a:gridCol w="196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Category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Key Files / Evidence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Core Logic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RWD / CSS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style.css, dashboard.css, login.css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Media queries, Flexbox, Adaptive Layouts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Rate Limiting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config.php, api/login.php, rental_action.php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Throttling logic, Action protection gates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API Protection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api/dashboard_api.php, api/_common.php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Centralized request filtering chain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/>
          <p:nvPr/>
        </p:nvSpPr>
        <p:spPr>
          <a:xfrm>
            <a:off x="571500" y="213285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571500" y="291762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571500" y="3702397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571500" y="290810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571500" y="290810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571500" y="369287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571500" y="369287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571500" y="46757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571500" y="46757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8227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1666875" y="227573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https://cdn.dribbble.com/userupload/44859014/file/6fbfc3b2c2695646ca123b6b8c01aad9.png?crop=0x0-2395x1796&amp;format=webp&amp;resize=400x300&amp;vertical=center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1666875" y="252144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dribbble.com</a:t>
            </a:r>
            <a:endParaRPr/>
          </a:p>
        </p:txBody>
      </p:sp>
      <p:pic>
        <p:nvPicPr>
          <p:cNvPr id="222" name="Google Shape;22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670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1666875" y="306050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https://media.geeksforgeeks.org/wp-content/uploads/20260331153020903963/what_is_rate_limiting_11.webp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1666875" y="330621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www.geeksforgeeks.org</a:t>
            </a:r>
            <a:endParaRPr/>
          </a:p>
        </p:txBody>
      </p:sp>
      <p:pic>
        <p:nvPicPr>
          <p:cNvPr id="225" name="Google Shape;22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5094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1666875" y="384527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d3njjcbhbojbot.cloudfront.net/api/utilities/v1/imageproxy/https://images.ctfassets.net/wp1lcwdav1p1/3Hza57OTLRJzS2w69oT7VJ/97e92e9f54b741d95208463c97bd6fe9/GettyImages-2022975324.jpg?w=1500&amp;h=680&amp;q=60&amp;fit=fill&amp;f=faces&amp;fm=jpg&amp;fl=progressive&amp;auto=format%2Ccompress&amp;dpr=1&amp;w=1000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1666875" y="428907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www.coursera.org</a:t>
            </a:r>
            <a:endParaRPr/>
          </a:p>
        </p:txBody>
      </p:sp>
      <p:pic>
        <p:nvPicPr>
          <p:cNvPr id="228" name="Google Shape;228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9338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 txBox="1"/>
          <p:nvPr/>
        </p:nvSpPr>
        <p:spPr>
          <a:xfrm>
            <a:off x="1666875" y="482813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https://image.slidesdocs.com/responsive-images/background/business-dark-sense-of-technology-texture-blue-nature-powerpoint-background_ecd678c7a5__960_540.jpg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1666875" y="527193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slidesdocs.com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809625" y="571500"/>
            <a:ext cx="1135141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</Words>
  <Application>Microsoft Office PowerPoint</Application>
  <PresentationFormat>寬螢幕</PresentationFormat>
  <Paragraphs>72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Arial</vt:lpstr>
      <vt:lpstr>Urbanist</vt:lpstr>
      <vt:lpstr>Lato</vt:lpstr>
      <vt:lpstr>Inter</vt:lpstr>
      <vt:lpstr>Calibri</vt:lpstr>
      <vt:lpstr>Inter SemiBold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chang</dc:creator>
  <cp:lastModifiedBy>JOEY CHANG</cp:lastModifiedBy>
  <cp:revision>1</cp:revision>
  <dcterms:modified xsi:type="dcterms:W3CDTF">2026-05-10T14:00:26Z</dcterms:modified>
</cp:coreProperties>
</file>